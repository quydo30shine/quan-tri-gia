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BRIEF 8 GDKV NHƯỢNG QUYỀN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Quản trị Giá Dịch vụ V1 T4/2026 — GO-LIVE 05/05/2026
Người chủ trì: Lê Thuỳ — GĐ Khối Thương mại
Ngày brief: 04/05/2026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1. MỤC ĐÍCH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1F4E78"/>
                </a:solidFill>
              </a:rPr>
              <a:t>GDKV nắm rõ V1 trước khi go-live 05/05</a:t>
            </a:r>
          </a:p>
          <a:p>
            <a:r>
              <a:rPr sz="1600">
                <a:solidFill>
                  <a:srgbClr val="1F4E78"/>
                </a:solidFill>
              </a:rPr>
              <a:t>• 60 DV ON BÁN trong Master DMDV chuẩn — áp toàn 47 NQ care</a:t>
            </a:r>
          </a:p>
          <a:p>
            <a:r>
              <a:rPr sz="1600">
                <a:solidFill>
                  <a:srgbClr val="1F4E78"/>
                </a:solidFill>
              </a:rPr>
              <a:t>• 4 DV Key Vùng An (đã có sẵn — rà chuẩn hoá, không phải ON mới)</a:t>
            </a:r>
          </a:p>
          <a:p>
            <a:r>
              <a:rPr sz="1600">
                <a:solidFill>
                  <a:srgbClr val="1F4E78"/>
                </a:solidFill>
              </a:rPr>
              <a:t>• Khung giá V9 theo cụm cho 26 NQ map cụm + 17 NQ Độc lập</a:t>
            </a:r>
          </a:p>
          <a:p>
            <a:pPr/>
            <a:r>
              <a:rPr sz="1800" b="1">
                <a:solidFill>
                  <a:srgbClr val="C00000"/>
                </a:solidFill>
              </a:rPr>
              <a:t>GDKV nhận biết 14 cụm rủi ro CT+NQ chung cần priority review</a:t>
            </a:r>
          </a:p>
          <a:p>
            <a:r>
              <a:rPr sz="1600">
                <a:solidFill>
                  <a:srgbClr val="1F4E78"/>
                </a:solidFill>
              </a:rPr>
              <a:t>• ⚠️ Quan trọng: TỪ 01/05 — GDKV KHÔNG còn quyền tự ON/OFF DV hay update giá</a:t>
            </a:r>
          </a:p>
          <a:p>
            <a:pPr/>
            <a:r>
              <a:rPr sz="1800" b="1">
                <a:solidFill>
                  <a:srgbClr val="1F4E78"/>
                </a:solidFill>
              </a:rPr>
              <a:t>Confirm checklist riêng cho từng GDKV trước 04/05 18h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2. 5 NGUYÊN TẮC CỐT LÕI — KHÔNG ĐƯỢC PHÁ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1F4E78"/>
                </a:solidFill>
              </a:rPr>
              <a:t>1. CHUNG DANH MỤC</a:t>
            </a:r>
          </a:p>
          <a:p>
            <a:r>
              <a:rPr sz="1600">
                <a:solidFill>
                  <a:srgbClr val="1F4E78"/>
                </a:solidFill>
              </a:rPr>
              <a:t>• Master 60 DV ON BÁN áp toàn hệ thống — KH ở salon nào cũng có 60 DV</a:t>
            </a:r>
          </a:p>
          <a:p>
            <a:pPr/>
            <a:r>
              <a:rPr sz="1800" b="1">
                <a:solidFill>
                  <a:srgbClr val="1F4E78"/>
                </a:solidFill>
              </a:rPr>
              <a:t>2. KHÔNG SALON TỰ ON/OFF</a:t>
            </a:r>
          </a:p>
          <a:p>
            <a:r>
              <a:rPr sz="1600">
                <a:solidFill>
                  <a:srgbClr val="1F4E78"/>
                </a:solidFill>
              </a:rPr>
              <a:t>• Salon (CT + NQ) KHÔNG được tự thêm/sửa/xoá DV ngoài Master</a:t>
            </a:r>
          </a:p>
          <a:p>
            <a:pPr/>
            <a:r>
              <a:rPr sz="1800" b="1">
                <a:solidFill>
                  <a:srgbClr val="1F4E78"/>
                </a:solidFill>
              </a:rPr>
              <a:t>3. KHÔNG SALON TỰ UPDATE GIÁ</a:t>
            </a:r>
          </a:p>
          <a:p>
            <a:r>
              <a:rPr sz="1600">
                <a:solidFill>
                  <a:srgbClr val="1F4E78"/>
                </a:solidFill>
              </a:rPr>
              <a:t>• Khối TM chốt cuối. Đối tác đề xuất CHỈ THAM KHẢO</a:t>
            </a:r>
          </a:p>
          <a:p>
            <a:pPr/>
            <a:r>
              <a:rPr sz="1800" b="1">
                <a:solidFill>
                  <a:srgbClr val="1F4E78"/>
                </a:solidFill>
              </a:rPr>
              <a:t>4. CHU KỲ: 1 QUÝ REVIEW + 6 THÁNG APPLY</a:t>
            </a:r>
          </a:p>
          <a:p>
            <a:r>
              <a:rPr sz="1600">
                <a:solidFill>
                  <a:srgbClr val="1F4E78"/>
                </a:solidFill>
              </a:rPr>
              <a:t>• Khối TM review thị trường 1 quý/lần — apply giá tối đa 6 tháng/lần</a:t>
            </a:r>
          </a:p>
          <a:p>
            <a:pPr/>
            <a:r>
              <a:rPr sz="1800" b="1">
                <a:solidFill>
                  <a:srgbClr val="1F4E78"/>
                </a:solidFill>
              </a:rPr>
              <a:t>5. PHÁT TRIỂN DV THEO CHIẾN LƯỢC 2026</a:t>
            </a:r>
          </a:p>
          <a:p>
            <a:r>
              <a:rPr sz="1600">
                <a:solidFill>
                  <a:srgbClr val="1F4E78"/>
                </a:solidFill>
              </a:rPr>
              <a:t>• DV mới phải có WTP + CPI/EPI + Phân vai + Khung giá theo cụm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3. SỐ LIỆU CHÍNH V1 T4/2026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  <a:gridCol w="5486400"/>
              </a:tblGrid>
              <a:tr h="571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Hạng mục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Số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Chi tiết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Master DMDV ON BÁN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 Core + 17 SC + 27 Relax + 16 UND + 3 BH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TAG nội bộ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162, 474, 572, 1045, 1290 — không tính DT bán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Key Vùng 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1266, 652, 636, 938 — DV ĐÃ CÓ, rà chuẩn hoá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Salon Công 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Áp full Master 60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Salon Nhượng quyền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26 map cụm + 17 Độc lập + 10 Vùng An (overlap) + 1 mới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GDKV care NQ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Quang 9 + Quyền 8 + Cường 11 + Gấm 6 + Đức 6 + Sang 5 + Huệ 1 + Quỳnh 1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Cụm phân vùng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Theo file 30Shine_KhungGia_V9_202604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4. 4 DV VÙNG AN — RÀ CHUẨN HOÁ (KHÔNG PHẢI ON MỚI)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C00000"/>
                </a:solidFill>
              </a:rPr>
              <a:t>⚠️ Wording cốt lõi:</a:t>
            </a:r>
          </a:p>
          <a:p>
            <a:r>
              <a:rPr sz="1600">
                <a:solidFill>
                  <a:srgbClr val="1F4E78"/>
                </a:solidFill>
              </a:rPr>
              <a:t>• 4 DV (1266, 652, 636, 938) là DV ĐÃ CÓ SẴN ở 10 salon Vùng An</a:t>
            </a:r>
          </a:p>
          <a:p>
            <a:r>
              <a:rPr sz="1600">
                <a:solidFill>
                  <a:srgbClr val="1F4E78"/>
                </a:solidFill>
              </a:rPr>
              <a:t>• Hành động: rà giá để chuẩn hoá vào hệ thống — KHÔNG phải ON DV mới</a:t>
            </a:r>
          </a:p>
          <a:p>
            <a:r>
              <a:rPr sz="1600">
                <a:solidFill>
                  <a:srgbClr val="1F4E78"/>
                </a:solidFill>
              </a:rPr>
              <a:t>• Áp tạm cho 10 salon (8 HCM + 2 VT) đến hết khấu hao thiết bị</a:t>
            </a:r>
          </a:p>
          <a:p>
            <a:r>
              <a:rPr sz="1600">
                <a:solidFill>
                  <a:srgbClr val="1F4E78"/>
                </a:solidFill>
              </a:rPr>
              <a:t>• Sau hết khấu hao → DV về Master 60 chung HOẶC bỏ</a:t>
            </a:r>
          </a:p>
          <a:p>
            <a:pPr/>
            <a:r>
              <a:rPr sz="1800" b="1">
                <a:solidFill>
                  <a:srgbClr val="1F4E78"/>
                </a:solidFill>
              </a:rPr>
              <a:t>GDKV care 10 salon Vùng An:</a:t>
            </a:r>
          </a:p>
          <a:p>
            <a:r>
              <a:rPr sz="1600">
                <a:solidFill>
                  <a:srgbClr val="1F4E78"/>
                </a:solidFill>
              </a:rPr>
              <a:t>• Trịnh Văn Quang: 5 salon (152 NO, 359 LQD, 170 NTL, 112 PQ, A6 NAT)</a:t>
            </a:r>
          </a:p>
          <a:p>
            <a:r>
              <a:rPr sz="1600">
                <a:solidFill>
                  <a:srgbClr val="1F4E78"/>
                </a:solidFill>
              </a:rPr>
              <a:t>• Tống Xuân Quyền: 3 salon (27A NVL, 344 CMT8 VT, 406 TNM VT)</a:t>
            </a:r>
          </a:p>
          <a:p>
            <a:r>
              <a:rPr sz="1600">
                <a:solidFill>
                  <a:srgbClr val="1F4E78"/>
                </a:solidFill>
              </a:rPr>
              <a:t>• Nguyễn Thanh Sang: 2 salon (68 NT, 77 PVC)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5. 🚨 14 CỤM RỦI RO — CT+NQ CHUNG CỤM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1371600"/>
                <a:gridCol w="1097280"/>
                <a:gridCol w="3931920"/>
              </a:tblGrid>
              <a:tr h="571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Cụm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Salon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Spread KB2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Mức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Hành động trước GO-LIVE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Cụm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186 QT (CT) ↔ 357 LACASTA (NQ)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15.000đ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🔴 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Khối TM review NGAY trước 02/05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Cụm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 LDT + 3 NQ Vùng An (152/359/170)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9.000đ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🟡 TRUNG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GDKV Quang chốt 1 giá trước 04/05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Cụm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148 TD/173 TN + 14 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9.000đ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🟡 TRUNG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GDKV align 2 salon trước 04/05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Cụm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236 DBT + 671/77 PVC/68 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8.000đ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🟡 TRUNG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GDKV align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Cụm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 CT HCM + A6 NAT (Vùng 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6.000đ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🟢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Theo dõi 30 ngày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Cụm 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 CT + 4 NQ HCM (7 salon)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6.000đ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🟢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Theo dõi 30 ngày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r>
                        <a:rPr sz="1100"/>
                        <a:t>+ 8 cụm khác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spread &lt;5K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&lt;5.000đ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🟢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Theo dõi 30 ngày sau GO-LIVE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6. QUY TRÌNH GIÁ NQ — 7 BƯỚC (CHU KỲ 6 THÁNG)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600" b="1">
                <a:solidFill>
                  <a:srgbClr val="1F4E78"/>
                </a:solidFill>
              </a:rPr>
              <a:t>Bước 1</a:t>
            </a:r>
          </a:p>
          <a:p>
            <a:r>
              <a:rPr sz="1600">
                <a:solidFill>
                  <a:srgbClr val="1F4E78"/>
                </a:solidFill>
              </a:rPr>
              <a:t>• Khối TM chuẩn bị khung giá V9 cho 47 NQ × 60 DV</a:t>
            </a:r>
          </a:p>
          <a:p>
            <a:pPr lvl="1"/>
            <a:r>
              <a:rPr sz="1600" b="1">
                <a:solidFill>
                  <a:srgbClr val="1F4E78"/>
                </a:solidFill>
              </a:rPr>
              <a:t>Bước 2</a:t>
            </a:r>
          </a:p>
          <a:p>
            <a:r>
              <a:rPr sz="1600">
                <a:solidFill>
                  <a:srgbClr val="1F4E78"/>
                </a:solidFill>
              </a:rPr>
              <a:t>• Gửi GDKV → GDKV brief NQ + lấy comment thị trường</a:t>
            </a:r>
          </a:p>
          <a:p>
            <a:pPr lvl="1"/>
            <a:r>
              <a:rPr sz="1600" b="1">
                <a:solidFill>
                  <a:srgbClr val="1F4E78"/>
                </a:solidFill>
              </a:rPr>
              <a:t>Bước 3</a:t>
            </a:r>
          </a:p>
          <a:p>
            <a:r>
              <a:rPr sz="1600">
                <a:solidFill>
                  <a:srgbClr val="1F4E78"/>
                </a:solidFill>
              </a:rPr>
              <a:t>• NQ comment đề xuất giá (CHỈ THAM KHẢO — không quyết định)</a:t>
            </a:r>
          </a:p>
          <a:p>
            <a:pPr lvl="1"/>
            <a:r>
              <a:rPr sz="1600" b="1">
                <a:solidFill>
                  <a:srgbClr val="1F4E78"/>
                </a:solidFill>
              </a:rPr>
              <a:t>Bước 4</a:t>
            </a:r>
          </a:p>
          <a:p>
            <a:r>
              <a:rPr sz="1600">
                <a:solidFill>
                  <a:srgbClr val="1F4E78"/>
                </a:solidFill>
              </a:rPr>
              <a:t>• Khối TM tổng hợp + đối chiếu chiến lược → chốt giá cuối</a:t>
            </a:r>
          </a:p>
          <a:p>
            <a:pPr lvl="1"/>
            <a:r>
              <a:rPr sz="1600" b="1">
                <a:solidFill>
                  <a:srgbClr val="1F4E78"/>
                </a:solidFill>
              </a:rPr>
              <a:t>Bước 5</a:t>
            </a:r>
          </a:p>
          <a:p>
            <a:r>
              <a:rPr sz="1600">
                <a:solidFill>
                  <a:srgbClr val="1F4E78"/>
                </a:solidFill>
              </a:rPr>
              <a:t>• Trình CEO duyệt khung giá NQ</a:t>
            </a:r>
          </a:p>
          <a:p>
            <a:pPr lvl="1"/>
            <a:r>
              <a:rPr sz="1600" b="1">
                <a:solidFill>
                  <a:srgbClr val="1F4E78"/>
                </a:solidFill>
              </a:rPr>
              <a:t>Bước 6</a:t>
            </a:r>
          </a:p>
          <a:p>
            <a:r>
              <a:rPr sz="1600">
                <a:solidFill>
                  <a:srgbClr val="1F4E78"/>
                </a:solidFill>
              </a:rPr>
              <a:t>• GDKV NQ thông báo NQ + IT cập nhật POS</a:t>
            </a:r>
          </a:p>
          <a:p>
            <a:pPr lvl="1"/>
            <a:r>
              <a:rPr sz="1600" b="1">
                <a:solidFill>
                  <a:srgbClr val="1F4E78"/>
                </a:solidFill>
              </a:rPr>
              <a:t>Bước 7</a:t>
            </a:r>
          </a:p>
          <a:p>
            <a:r>
              <a:rPr sz="1600">
                <a:solidFill>
                  <a:srgbClr val="1F4E78"/>
                </a:solidFill>
              </a:rPr>
              <a:t>• Theo dõi 30 ngày: CR, AOV, Bill Size + báo cáo Khối 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7. CHECKLIST RIÊNG CHO TỪNG GDKV (TRƯỚC 04/05 18H)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5943600"/>
                <a:gridCol w="1371600"/>
              </a:tblGrid>
              <a:tr h="50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GDKV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#NQ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Việc cần làm trước 04/05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Confirm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100"/>
                        <a:t>Trịnh Văn Quang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 (5 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Brief 9 NQ + chốt 5 NQ Vùng An (1 giá thống nhất)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Chữ ký + ngày</a:t>
                      </a:r>
                    </a:p>
                  </a:txBody>
                  <a:tcPr/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100"/>
                        <a:t>Tống Xuân Quyền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 (3 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Brief 8 NQ + 3 NQ Vùng An VT/HCM. Confirm cụm map đúng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Chữ ký + ngày</a:t>
                      </a:r>
                    </a:p>
                  </a:txBody>
                  <a:tcPr/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100"/>
                        <a:t>Nguyễn Việt Cường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Brief 11 NQ + Confirm Salon Độc Lập (BD/ĐN/NT)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Chữ ký + ngày</a:t>
                      </a:r>
                    </a:p>
                  </a:txBody>
                  <a:tcPr/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100"/>
                        <a:t>Phan Thị Hồng Gấm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Brief 6 NQ HN+miền Bắc + Salon Độc Lập (205 LT, 357 LACASTA)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Chữ ký + ngày</a:t>
                      </a:r>
                    </a:p>
                  </a:txBody>
                  <a:tcPr/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100"/>
                        <a:t>Đoàn Trung Đức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Brief 6 NQ Phía Đông HN. KHÔNG có Vùng 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Chữ ký + ngày</a:t>
                      </a:r>
                    </a:p>
                  </a:txBody>
                  <a:tcPr/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100"/>
                        <a:t>Nguyễn Thanh Sang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 (2 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Brief 5 NQ + 68 NT/77 PVC Vùng An + F33/484 NTH Độc Lập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Chữ ký + ngày</a:t>
                      </a:r>
                    </a:p>
                  </a:txBody>
                  <a:tcPr/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100"/>
                        <a:t>Nguyễn Thị Huệ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Brief 206 PĐP NA — Salon Độc Lập miền Trung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Chữ ký + ngày</a:t>
                      </a:r>
                    </a:p>
                  </a:txBody>
                  <a:tcPr/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100"/>
                        <a:t>Nguyễn Như Quỳnh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 mới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Brief TG 25/4 QN — Promo 60 ngày, áp Master sau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Chữ ký + ngày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8. LỘ TRÌNH +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1F4E78"/>
                </a:solidFill>
              </a:rPr>
              <a:t>LỘ TRÌNH</a:t>
            </a:r>
          </a:p>
          <a:p>
            <a:r>
              <a:rPr sz="1600">
                <a:solidFill>
                  <a:srgbClr val="1F4E78"/>
                </a:solidFill>
              </a:rPr>
              <a:t>• 04/05 18h: GDKV confirm checklist</a:t>
            </a:r>
          </a:p>
          <a:p>
            <a:r>
              <a:rPr sz="1600">
                <a:solidFill>
                  <a:srgbClr val="1F4E78"/>
                </a:solidFill>
              </a:rPr>
              <a:t>• ⚠️ 01/05: OFF chính thức quy trình ON/OFF DV cũ — IT vô hiệu hoá quyền tự update</a:t>
            </a:r>
          </a:p>
          <a:p>
            <a:r>
              <a:rPr sz="1600">
                <a:solidFill>
                  <a:srgbClr val="1F4E78"/>
                </a:solidFill>
              </a:rPr>
              <a:t>• 🚀 05/05: GO-LIVE V1 — Master 60 + Khung giá V9 + Quy trình mới</a:t>
            </a:r>
          </a:p>
          <a:p>
            <a:r>
              <a:rPr sz="1600">
                <a:solidFill>
                  <a:srgbClr val="1F4E78"/>
                </a:solidFill>
              </a:rPr>
              <a:t>• 05-31/05: Theo dõi 30 ngày — báo cáo CR/AOV/Bill Size về Khối TM</a:t>
            </a:r>
          </a:p>
          <a:p>
            <a:r>
              <a:rPr sz="1600">
                <a:solidFill>
                  <a:srgbClr val="1F4E78"/>
                </a:solidFill>
              </a:rPr>
              <a:t>• 01/06: Đầu kỳ Q3 — Khối TM tổng hợp idea quý 1 + chuẩn bị review chu kỳ apply T7</a:t>
            </a:r>
          </a:p>
          <a:p>
            <a:pPr/>
            <a:r>
              <a:rPr sz="1800" b="1">
                <a:solidFill>
                  <a:srgbClr val="ED7D31"/>
                </a:solidFill>
              </a:rPr>
              <a:t>Q&amp;A</a:t>
            </a:r>
          </a:p>
          <a:p>
            <a:r>
              <a:rPr sz="1600">
                <a:solidFill>
                  <a:srgbClr val="1F4E78"/>
                </a:solidFill>
              </a:rPr>
              <a:t>• Câu hỏi từ GDKV → tổng hợp + Khối TM trả lời trong 24h</a:t>
            </a:r>
          </a:p>
          <a:p>
            <a:r>
              <a:rPr sz="1600">
                <a:solidFill>
                  <a:srgbClr val="1F4E78"/>
                </a:solidFill>
              </a:rPr>
              <a:t>• Liên hệ: Lê Thuỳ (chủ trì) | Đỗ Xuân Quý (operations)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CẢM ƠN!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Bộ tài liệu V1 đầy đủ trong folder Quản Trị Giá Dịch vụ
• DMDV_Master_HeThong_v1.xlsx (15 sheet)
• GiaNQ_TheoCum_v1.xlsx (8 sheet)
• BangGia_HeThong_v1.xlsx (8 sheet — có Sheet 8 Cụm rủi ro)
• Master_DMDV_QuanTriGia_V1_T4_2026.docx (đọc liền mạch)
• 4 SOP/STD docx riêng để ban hành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