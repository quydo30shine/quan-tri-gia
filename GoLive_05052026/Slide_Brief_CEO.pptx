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BRIEF CEO
— V1 QUẢN TRỊ GIÁ DỊCH VỤ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Tóm tắt 5 phút trước duyệt
GĐ Khối Thương mại: Lê Thuỳ
Ngày trình: 02-03/05/2026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1. VẤN ĐỀ — TẠI SAO CẦN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00000"/>
                </a:solidFill>
              </a:rPr>
              <a:t>VẤN ĐỀ HIỆN TẠI:</a:t>
            </a:r>
          </a:p>
          <a:p>
            <a:r>
              <a:rPr sz="1600">
                <a:solidFill>
                  <a:srgbClr val="1F4E78"/>
                </a:solidFill>
              </a:rPr>
              <a:t>• DMDV cũ over 142 DV — KH ở mỗi salon thấy menu khác nhau → brand loãng</a:t>
            </a:r>
          </a:p>
          <a:p>
            <a:r>
              <a:rPr sz="1600">
                <a:solidFill>
                  <a:srgbClr val="1F4E78"/>
                </a:solidFill>
              </a:rPr>
              <a:t>• Mỗi vùng tự định giá → loạn giá, KH so sánh giữa các salon → claim</a:t>
            </a:r>
          </a:p>
          <a:p>
            <a:r>
              <a:rPr sz="1600">
                <a:solidFill>
                  <a:srgbClr val="1F4E78"/>
                </a:solidFill>
              </a:rPr>
              <a:t>• Salon (CT + NQ) tự đề xuất ON DV không bài bản → khó kiểm soát chất lượng</a:t>
            </a:r>
          </a:p>
          <a:p>
            <a:r>
              <a:rPr sz="1600">
                <a:solidFill>
                  <a:srgbClr val="1F4E78"/>
                </a:solidFill>
              </a:rPr>
              <a:t>• Phát triển DV mới không gắn chiến lược 2026 → ROI thấp, đầu tư phân tán</a:t>
            </a:r>
          </a:p>
          <a:p>
            <a:r>
              <a:rPr sz="2000" b="1">
                <a:solidFill>
                  <a:srgbClr val="C00000"/>
                </a:solidFill>
              </a:rPr>
              <a:t>14 CỤM CT+NQ CHUNG — RỦI RO CLAIM KH cao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2. GIẢI PHÁP V1 — 4 ĐIỂM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E78"/>
                </a:solidFill>
              </a:rPr>
              <a:t>1. CHUNG DANH MỤC — 60 DV ON BÁN</a:t>
            </a:r>
          </a:p>
          <a:p>
            <a:r>
              <a:rPr sz="1600">
                <a:solidFill>
                  <a:srgbClr val="1F4E78"/>
                </a:solidFill>
              </a:rPr>
              <a:t>• Áp toàn hệ thống: 56 CT + 47 NQ + Salon Độc lập</a:t>
            </a:r>
          </a:p>
          <a:p>
            <a:r>
              <a:rPr sz="2200" b="1">
                <a:solidFill>
                  <a:srgbClr val="1F4E78"/>
                </a:solidFill>
              </a:rPr>
              <a:t>2. KHÔNG SALON TỰ UPDATE GIÁ/DV</a:t>
            </a:r>
          </a:p>
          <a:p>
            <a:r>
              <a:rPr sz="1600">
                <a:solidFill>
                  <a:srgbClr val="1F4E78"/>
                </a:solidFill>
              </a:rPr>
              <a:t>• Khối TM chốt cuối theo chiến lược — đối tác chỉ tham khảo</a:t>
            </a:r>
          </a:p>
          <a:p>
            <a:r>
              <a:rPr sz="2200" b="1">
                <a:solidFill>
                  <a:srgbClr val="1F4E78"/>
                </a:solidFill>
              </a:rPr>
              <a:t>3. CHU KỲ: 1 QUÝ REVIEW + 6 THÁNG APPLY</a:t>
            </a:r>
          </a:p>
          <a:p>
            <a:r>
              <a:rPr sz="1600">
                <a:solidFill>
                  <a:srgbClr val="1F4E78"/>
                </a:solidFill>
              </a:rPr>
              <a:t>• Khối TM tổng hợp idea quý → apply điều chỉnh giá Q1+Q3</a:t>
            </a:r>
          </a:p>
          <a:p>
            <a:r>
              <a:rPr sz="2200" b="1">
                <a:solidFill>
                  <a:srgbClr val="1F4E78"/>
                </a:solidFill>
              </a:rPr>
              <a:t>4. PHÁT TRIỂN DV THEO CHIẾN LƯỢC 2026</a:t>
            </a:r>
          </a:p>
          <a:p>
            <a:r>
              <a:rPr sz="1600">
                <a:solidFill>
                  <a:srgbClr val="1F4E78"/>
                </a:solidFill>
              </a:rPr>
              <a:t>• WTP + CPI/EPI + Phân vai + Khung giá theo cụm — không cảm tính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3. SỐ LIỆU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60</a:t>
            </a:r>
          </a:p>
          <a:p>
            <a:r>
              <a:rPr sz="1600" b="0"/>
              <a:t>DV ON BÁN trong Master</a:t>
            </a:r>
          </a:p>
          <a:p>
            <a:r>
              <a:rPr sz="2800" b="1">
                <a:solidFill>
                  <a:srgbClr val="1F4E78"/>
                </a:solidFill>
              </a:rPr>
              <a:t>5</a:t>
            </a:r>
          </a:p>
          <a:p>
            <a:r>
              <a:rPr sz="1600" b="0"/>
              <a:t>DV TAG nội bộ (không bán)</a:t>
            </a:r>
          </a:p>
          <a:p>
            <a:r>
              <a:rPr sz="2800" b="1">
                <a:solidFill>
                  <a:srgbClr val="1F4E78"/>
                </a:solidFill>
              </a:rPr>
              <a:t>4</a:t>
            </a:r>
          </a:p>
          <a:p>
            <a:r>
              <a:rPr sz="1600" b="0"/>
              <a:t>DV Key Vùng An — đã có, rà chuẩn hoá</a:t>
            </a:r>
          </a:p>
          <a:p>
            <a:r>
              <a:rPr sz="2800" b="1">
                <a:solidFill>
                  <a:srgbClr val="1F4E78"/>
                </a:solidFill>
              </a:rPr>
              <a:t>99</a:t>
            </a:r>
          </a:p>
          <a:p>
            <a:r>
              <a:rPr sz="1600" b="0"/>
              <a:t>Salon: 56 CT + 26 NQ map cụm + 17 Độc lập</a:t>
            </a:r>
          </a:p>
          <a:p>
            <a:r>
              <a:rPr sz="2800" b="1">
                <a:solidFill>
                  <a:srgbClr val="1F4E78"/>
                </a:solidFill>
              </a:rPr>
              <a:t>27</a:t>
            </a:r>
          </a:p>
          <a:p>
            <a:r>
              <a:rPr sz="1600" b="0"/>
              <a:t>Cụm phân vùng</a:t>
            </a:r>
          </a:p>
          <a:p>
            <a:r>
              <a:rPr sz="2800" b="1">
                <a:solidFill>
                  <a:srgbClr val="C00000"/>
                </a:solidFill>
              </a:rPr>
              <a:t>14</a:t>
            </a:r>
          </a:p>
          <a:p>
            <a:r>
              <a:rPr sz="1600" b="0">
                <a:solidFill>
                  <a:srgbClr val="C00000"/>
                </a:solidFill>
              </a:rPr>
              <a:t>Cụm CT+NQ chung — rủi ro claim KH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4. LỘ TRÌNH 27/04 → 05/05/2026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8"/>
                </a:solidFill>
              </a:rPr>
              <a:t>Trước 01/05</a:t>
            </a:r>
          </a:p>
          <a:p>
            <a:r>
              <a:rPr sz="1600">
                <a:solidFill>
                  <a:srgbClr val="1F4E78"/>
                </a:solidFill>
              </a:rPr>
              <a:t>• OFF quy trình ON/OFF DV cũ — IT vô hiệu quyền tự update của GDKV/NQ</a:t>
            </a:r>
          </a:p>
          <a:p>
            <a:r>
              <a:rPr sz="1800" b="1">
                <a:solidFill>
                  <a:srgbClr val="1F4E78"/>
                </a:solidFill>
              </a:rPr>
              <a:t>01-03/05</a:t>
            </a:r>
          </a:p>
          <a:p>
            <a:r>
              <a:rPr sz="1600">
                <a:solidFill>
                  <a:srgbClr val="1F4E78"/>
                </a:solidFill>
              </a:rPr>
              <a:t>• Trình CEO duyệt: 4 SOP/STD + Phụ lục PO-TM-001 V2.1</a:t>
            </a:r>
          </a:p>
          <a:p>
            <a:r>
              <a:rPr sz="1800" b="1">
                <a:solidFill>
                  <a:srgbClr val="1F4E78"/>
                </a:solidFill>
              </a:rPr>
              <a:t>04/05</a:t>
            </a:r>
          </a:p>
          <a:p>
            <a:r>
              <a:rPr sz="1600">
                <a:solidFill>
                  <a:srgbClr val="1F4E78"/>
                </a:solidFill>
              </a:rPr>
              <a:t>• Brief 8 GDKV NQ + GDKV confirm checklist trước 18:00</a:t>
            </a:r>
          </a:p>
          <a:p>
            <a:r>
              <a:rPr sz="1800" b="1">
                <a:solidFill>
                  <a:srgbClr val="548235"/>
                </a:solidFill>
              </a:rPr>
              <a:t>🚀 05/05</a:t>
            </a:r>
          </a:p>
          <a:p>
            <a:r>
              <a:rPr sz="1600">
                <a:solidFill>
                  <a:srgbClr val="1F4E78"/>
                </a:solidFill>
              </a:rPr>
              <a:t>• GO-LIVE V1 — Master 60 + Khung giá V9 + Quy trình mới</a:t>
            </a:r>
          </a:p>
          <a:p>
            <a:r>
              <a:rPr sz="1800" b="1">
                <a:solidFill>
                  <a:srgbClr val="1F4E78"/>
                </a:solidFill>
              </a:rPr>
              <a:t>06-31/05</a:t>
            </a:r>
          </a:p>
          <a:p>
            <a:r>
              <a:rPr sz="1600">
                <a:solidFill>
                  <a:srgbClr val="1F4E78"/>
                </a:solidFill>
              </a:rPr>
              <a:t>• Theo dõi 30 ngày — báo cáo CR/AOV/Bill Size về Khối 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5. ĐỀ XUẤT CEO DUYỆT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4E78"/>
                </a:solidFill>
              </a:rPr>
              <a:t>CEO duyệt 4 tài liệu chính:</a:t>
            </a:r>
          </a:p>
          <a:p>
            <a:r>
              <a:rPr sz="1600">
                <a:solidFill>
                  <a:srgbClr val="1F4E78"/>
                </a:solidFill>
              </a:rPr>
              <a:t>• ✓ SOP-TM-018 V2 — Quy trình Cập nhật &amp; Ra mắt DV mới (Hiệu lực 01/05)</a:t>
            </a:r>
          </a:p>
          <a:p>
            <a:r>
              <a:rPr sz="1600">
                <a:solidFill>
                  <a:srgbClr val="1F4E78"/>
                </a:solidFill>
              </a:rPr>
              <a:t>• ✓ SOP-TM-001 V2 — Quy trình Đề xuất &amp; Duyệt Thay đổi Giá DV (05/05)</a:t>
            </a:r>
          </a:p>
          <a:p>
            <a:r>
              <a:rPr sz="1600">
                <a:solidFill>
                  <a:srgbClr val="1F4E78"/>
                </a:solidFill>
              </a:rPr>
              <a:t>• ✓ STD-TM-001 V2 — Bảng Giá DV chuẩn 60 DV (05/05)</a:t>
            </a:r>
          </a:p>
          <a:p>
            <a:r>
              <a:rPr sz="1600">
                <a:solidFill>
                  <a:srgbClr val="1F4E78"/>
                </a:solidFill>
              </a:rPr>
              <a:t>• ✓ Phụ lục PO-TM-001 V2.1 — Phân cụm + Khung giá theo cụm (03/05)</a:t>
            </a:r>
          </a:p>
          <a:p>
            <a:r>
              <a:rPr sz="2000" b="1">
                <a:solidFill>
                  <a:srgbClr val="C00000"/>
                </a:solidFill>
              </a:rPr>
              <a:t>Cảnh báo trước GO-LIVE:</a:t>
            </a:r>
          </a:p>
          <a:p>
            <a:r>
              <a:rPr sz="1600">
                <a:solidFill>
                  <a:srgbClr val="1F4E78"/>
                </a:solidFill>
              </a:rPr>
              <a:t>• Cụm 8 (chênh 15K Hà Đông) — cần Khối TM review NGAY trước 02/05</a:t>
            </a:r>
          </a:p>
          <a:p>
            <a:r>
              <a:rPr sz="1600">
                <a:solidFill>
                  <a:srgbClr val="1F4E78"/>
                </a:solidFill>
              </a:rPr>
              <a:t>• Cụm 15 (3 NQ Vùng An lệch 9K) — GDKV Quang chốt 1 giá thống nhất 04/05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CẢM ƠN CEO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Bộ 12 file đầy đủ trong folder Quản Trị Giá Dịch vụ
Liên hệ: Lê Thuỳ — thuy.le@30shine.com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